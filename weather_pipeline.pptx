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5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9" y="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34D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AF-4F41-8CE5-3658A7EF2271}"/>
              </c:ext>
            </c:extLst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AF-4F41-8CE5-3658A7EF22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Target</c:v>
                </c:pt>
                <c:pt idx="1">
                  <c:v>Achieved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83.35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AF-4F41-8CE5-3658A7EF22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Rainfall (mm)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Cairns (Tropical North)</c:v>
                </c:pt>
                <c:pt idx="1">
                  <c:v>Darwin (Northern Territory)</c:v>
                </c:pt>
                <c:pt idx="2">
                  <c:v>Sydney (East Coast)</c:v>
                </c:pt>
                <c:pt idx="3">
                  <c:v>Alice Springs (Arid Inland)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5.74</c:v>
                </c:pt>
                <c:pt idx="1">
                  <c:v>5.09</c:v>
                </c:pt>
                <c:pt idx="2">
                  <c:v>3.33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AB-4868-A697-420F0C6D62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04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8941-622B-598B-0968-84AB57BC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EE03A-BFAB-5490-DBFF-C3F2D258B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63408-3A77-76AA-4866-5917B4E3C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03B11-2A4F-EBD9-A3CB-1D4B6D18C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7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1859-E86C-4823-F0DA-47D7ABCA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9B62C-AD84-76C1-93C2-3028B3653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5139A-01C0-602E-AF1A-034A4316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6129F-1575-918A-0A13-CF8FEAFAF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50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3D30">
              <a:alpha val="60000"/>
            </a:srgbClr>
          </a:solidFill>
          <a:ln w="12700">
            <a:solidFill>
              <a:srgbClr val="003D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Weather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Big Data machine learning pipeline utilizing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PySpark, and Streamlit to model real-world precipitation trends.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0082F-568A-4C45-833F-250C74CC45D1}"/>
              </a:ext>
            </a:extLst>
          </p:cNvPr>
          <p:cNvSpPr txBox="1"/>
          <p:nvPr/>
        </p:nvSpPr>
        <p:spPr>
          <a:xfrm>
            <a:off x="6872393" y="3015734"/>
            <a:ext cx="181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Oltean Alexandru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Analytical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classification model optimized to exceed 80% forecast reliability.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754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Trigger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the primary environmental variables driving rainfall.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754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00400"/>
            <a:ext cx="45720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73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47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geography-specific climatological variations across territories.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914400"/>
            <a:ext cx="292608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🌪️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59436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• ML • Climate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Prep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weatherAUS.csv. Used Python and Pandas to extract and clean 140,000+ historical climate records.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PySpark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features, scaled transformations, and trained Logistic Regression models inside a Big Data framework.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 Deployment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live Streamlit visual interface allowing immediate local data exploration and real-time model runs.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90672" y="2560320"/>
            <a:ext cx="21945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1032" y="2560320"/>
            <a:ext cx="21945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9A88E-D3C2-1EDA-8CF8-967CA45C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2E5D0F-4509-CBB0-8B52-B49E6910D2AF}"/>
              </a:ext>
            </a:extLst>
          </p:cNvPr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E4A9D9-E4EF-6FA6-12EA-FAEBB124DA1E}"/>
              </a:ext>
            </a:extLst>
          </p:cNvPr>
          <p:cNvSpPr/>
          <p:nvPr/>
        </p:nvSpPr>
        <p:spPr>
          <a:xfrm>
            <a:off x="5943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bg1"/>
                </a:solidFill>
              </a:rPr>
              <a:t>Why I Chose This Dataset &amp; Problem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410E6D-193D-71C6-145A-20F9BBFFA1F2}"/>
              </a:ext>
            </a:extLst>
          </p:cNvPr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010792-09C1-95B4-F5F9-794B04275A40}"/>
              </a:ext>
            </a:extLst>
          </p:cNvPr>
          <p:cNvSpPr/>
          <p:nvPr/>
        </p:nvSpPr>
        <p:spPr>
          <a:xfrm>
            <a:off x="4114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C3E9A4-D9D1-FFA8-68AD-4624697B3704}"/>
              </a:ext>
            </a:extLst>
          </p:cNvPr>
          <p:cNvSpPr/>
          <p:nvPr/>
        </p:nvSpPr>
        <p:spPr>
          <a:xfrm>
            <a:off x="457200" y="19202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</a:t>
            </a:r>
            <a:r>
              <a:rPr lang="en-US" sz="1600" dirty="0">
                <a:solidFill>
                  <a:schemeClr val="bg1"/>
                </a:solidFill>
              </a:rPr>
              <a:t> chose the </a:t>
            </a:r>
            <a:r>
              <a:rPr lang="en-US" dirty="0">
                <a:solidFill>
                  <a:schemeClr val="bg1"/>
                </a:solidFill>
              </a:rPr>
              <a:t>weatherAUS.csv</a:t>
            </a:r>
            <a:r>
              <a:rPr lang="en-US" sz="1600" dirty="0">
                <a:solidFill>
                  <a:schemeClr val="bg1"/>
                </a:solidFill>
              </a:rPr>
              <a:t> dataset because it contains over 140,000 deep daily rows tracking a decade of records.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7987CB-52F7-9781-C074-F2B9B01B347E}"/>
              </a:ext>
            </a:extLst>
          </p:cNvPr>
          <p:cNvSpPr/>
          <p:nvPr/>
        </p:nvSpPr>
        <p:spPr>
          <a:xfrm>
            <a:off x="45720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614F6C3-A00F-7FC9-4079-677205F3DBBC}"/>
              </a:ext>
            </a:extLst>
          </p:cNvPr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2C0438-6FA7-D748-9AAE-F78B3964A70A}"/>
              </a:ext>
            </a:extLst>
          </p:cNvPr>
          <p:cNvSpPr/>
          <p:nvPr/>
        </p:nvSpPr>
        <p:spPr>
          <a:xfrm>
            <a:off x="32918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C7B4B46-6B1B-1ED7-5709-1252970108B0}"/>
              </a:ext>
            </a:extLst>
          </p:cNvPr>
          <p:cNvSpPr/>
          <p:nvPr/>
        </p:nvSpPr>
        <p:spPr>
          <a:xfrm>
            <a:off x="3538728" y="1920240"/>
            <a:ext cx="2176272" cy="99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>
                <a:solidFill>
                  <a:schemeClr val="bg1"/>
                </a:solidFill>
              </a:rPr>
              <a:t>It monitors dual-time parameters (9 AM vs. 3 PM shifts) across 24 variables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D884AF-6CC8-D4B2-9B8D-9262280D7D53}"/>
              </a:ext>
            </a:extLst>
          </p:cNvPr>
          <p:cNvSpPr/>
          <p:nvPr/>
        </p:nvSpPr>
        <p:spPr>
          <a:xfrm>
            <a:off x="333756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690F369-4CCB-553F-6BE8-4B27CE6CBCA6}"/>
              </a:ext>
            </a:extLst>
          </p:cNvPr>
          <p:cNvSpPr/>
          <p:nvPr/>
        </p:nvSpPr>
        <p:spPr>
          <a:xfrm>
            <a:off x="6080760" y="100584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C88B2FC-EE11-F8B0-58F8-76D9711B2ABA}"/>
              </a:ext>
            </a:extLst>
          </p:cNvPr>
          <p:cNvSpPr/>
          <p:nvPr/>
        </p:nvSpPr>
        <p:spPr>
          <a:xfrm>
            <a:off x="61722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ADCDDE9-0098-69D6-0485-D6C1C0B0C537}"/>
              </a:ext>
            </a:extLst>
          </p:cNvPr>
          <p:cNvSpPr/>
          <p:nvPr/>
        </p:nvSpPr>
        <p:spPr>
          <a:xfrm>
            <a:off x="6327648" y="1783080"/>
            <a:ext cx="2267712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3.Processing a massive volume of multi-temporal thermodynamic data provides the perfect stress test to prove </a:t>
            </a:r>
            <a:r>
              <a:rPr lang="en-US" sz="1600" dirty="0" err="1">
                <a:solidFill>
                  <a:schemeClr val="bg1"/>
                </a:solidFill>
              </a:rPr>
              <a:t>PySpark’s</a:t>
            </a:r>
            <a:r>
              <a:rPr lang="en-US" sz="1600" dirty="0">
                <a:solidFill>
                  <a:schemeClr val="bg1"/>
                </a:solidFill>
              </a:rPr>
              <a:t> parallel processing efficiency over standard local machines. 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6D9923-F13A-92A8-77DE-72D684E604D3}"/>
              </a:ext>
            </a:extLst>
          </p:cNvPr>
          <p:cNvSpPr/>
          <p:nvPr/>
        </p:nvSpPr>
        <p:spPr>
          <a:xfrm>
            <a:off x="621792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535944-E9AA-211F-61AA-518921F862F8}"/>
              </a:ext>
            </a:extLst>
          </p:cNvPr>
          <p:cNvSpPr/>
          <p:nvPr/>
        </p:nvSpPr>
        <p:spPr>
          <a:xfrm>
            <a:off x="3090672" y="2560320"/>
            <a:ext cx="21945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676D91E-A697-AFE0-EFA6-AAA37324C5D0}"/>
              </a:ext>
            </a:extLst>
          </p:cNvPr>
          <p:cNvSpPr/>
          <p:nvPr/>
        </p:nvSpPr>
        <p:spPr>
          <a:xfrm>
            <a:off x="5971032" y="2560320"/>
            <a:ext cx="21945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2757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bg1"/>
                </a:solidFill>
              </a:rPr>
              <a:t>What I Achieved: High-Scale Analytics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83.35%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91440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097280"/>
            <a:ext cx="3017520" cy="238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Target Exceeded:</a:t>
            </a:r>
            <a:r>
              <a:rPr lang="en-US" sz="1400" dirty="0">
                <a:solidFill>
                  <a:schemeClr val="bg1"/>
                </a:solidFill>
              </a:rPr>
              <a:t> Successfully built a highly stable Logistic Regression model yielding </a:t>
            </a:r>
            <a:r>
              <a:rPr lang="en-US" sz="1400" b="1" dirty="0">
                <a:solidFill>
                  <a:schemeClr val="bg1"/>
                </a:solidFill>
              </a:rPr>
              <a:t>83.35% classification accuracy</a:t>
            </a:r>
            <a:r>
              <a:rPr lang="en-US" sz="1400" dirty="0">
                <a:solidFill>
                  <a:schemeClr val="bg1"/>
                </a:solidFill>
              </a:rPr>
              <a:t>, exceeding my 80% target reliability benchmark. </a:t>
            </a:r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3291840"/>
          <a:ext cx="45720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Volatility Trigger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 Humidity Correlation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study tracked multiple climate parameters (winds, temperature ranges, atmospheric air pressures).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confirmed that 3 PM Humidity acts as the core thermodynamic trigger. Late afternoon moisture build-up directly creates atmospheric pressure drops, forcing rain predictions.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5029200" cy="731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374904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3PM Humidity: 74% — Primary Rainfall Predictor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274320"/>
            <a:ext cx="292608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640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⛈️</a:t>
            </a:r>
            <a:endParaRPr lang="en-US" sz="6400" dirty="0"/>
          </a:p>
        </p:txBody>
      </p:sp>
      <p:sp>
        <p:nvSpPr>
          <p:cNvPr id="11" name="Shape 9"/>
          <p:cNvSpPr/>
          <p:nvPr/>
        </p:nvSpPr>
        <p:spPr>
          <a:xfrm>
            <a:off x="5943600" y="1920240"/>
            <a:ext cx="256032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514600"/>
            <a:ext cx="256032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solidFill>
            <a:srgbClr val="1C2128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Pressure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03320"/>
            <a:ext cx="2560320" cy="457200"/>
          </a:xfrm>
          <a:prstGeom prst="rect">
            <a:avLst/>
          </a:prstGeom>
          <a:solidFill>
            <a:srgbClr val="003D3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3PM Humidity 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Rainfall Disparity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Findings: True rainfall patterns are heavily geographical. High-volume coastal zones contrast dry, low-precipitation desert zones.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84EB7-C7EB-C8C2-D681-5A52031A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33AA3A-820D-D675-E685-4CAD25304E0E}"/>
              </a:ext>
            </a:extLst>
          </p:cNvPr>
          <p:cNvSpPr/>
          <p:nvPr/>
        </p:nvSpPr>
        <p:spPr>
          <a:xfrm>
            <a:off x="457200" y="320040"/>
            <a:ext cx="4572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B7DEBA-3451-FA3D-4DF5-F2C0946DCA0D}"/>
              </a:ext>
            </a:extLst>
          </p:cNvPr>
          <p:cNvSpPr/>
          <p:nvPr/>
        </p:nvSpPr>
        <p:spPr>
          <a:xfrm>
            <a:off x="5943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bg1"/>
                </a:solidFill>
              </a:rPr>
              <a:t>Real-World Utility: How This Helps Us Daily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0297E5-41EF-9FC6-0E68-7387C078EE1C}"/>
              </a:ext>
            </a:extLst>
          </p:cNvPr>
          <p:cNvSpPr/>
          <p:nvPr/>
        </p:nvSpPr>
        <p:spPr>
          <a:xfrm>
            <a:off x="320040" y="1005840"/>
            <a:ext cx="265176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996C90-2E1E-53B7-90B6-F27D8FB720B4}"/>
              </a:ext>
            </a:extLst>
          </p:cNvPr>
          <p:cNvSpPr/>
          <p:nvPr/>
        </p:nvSpPr>
        <p:spPr>
          <a:xfrm>
            <a:off x="411480" y="1143000"/>
            <a:ext cx="246888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6E27FE-54A4-C521-4EFE-E07DF14453AE}"/>
              </a:ext>
            </a:extLst>
          </p:cNvPr>
          <p:cNvSpPr/>
          <p:nvPr/>
        </p:nvSpPr>
        <p:spPr>
          <a:xfrm>
            <a:off x="411480" y="1280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452145-E585-5389-DF26-E08D146505A9}"/>
              </a:ext>
            </a:extLst>
          </p:cNvPr>
          <p:cNvSpPr/>
          <p:nvPr/>
        </p:nvSpPr>
        <p:spPr>
          <a:xfrm>
            <a:off x="457200" y="894665"/>
            <a:ext cx="2377440" cy="235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Smart Agriculture:</a:t>
            </a:r>
            <a:r>
              <a:rPr lang="en-US" sz="1400" dirty="0">
                <a:solidFill>
                  <a:schemeClr val="bg1"/>
                </a:solidFill>
              </a:rPr>
              <a:t> Replaces slow, manual log reviews with instant tracking, allowing agricultural planners to hedge crop vulnerabilities dynamically.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2D0AD2-0189-20A9-FDE9-BA383BBC75A8}"/>
              </a:ext>
            </a:extLst>
          </p:cNvPr>
          <p:cNvSpPr/>
          <p:nvPr/>
        </p:nvSpPr>
        <p:spPr>
          <a:xfrm>
            <a:off x="45720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89A653E-BD3B-4704-BA7D-9D50B6C11719}"/>
              </a:ext>
            </a:extLst>
          </p:cNvPr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82A6D91-90E2-809C-A004-42D3B8C31143}"/>
              </a:ext>
            </a:extLst>
          </p:cNvPr>
          <p:cNvSpPr/>
          <p:nvPr/>
        </p:nvSpPr>
        <p:spPr>
          <a:xfrm>
            <a:off x="3291840" y="1143000"/>
            <a:ext cx="246888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5CE78D4-FDB6-C424-B627-BA2BB2B0AF52}"/>
              </a:ext>
            </a:extLst>
          </p:cNvPr>
          <p:cNvSpPr/>
          <p:nvPr/>
        </p:nvSpPr>
        <p:spPr>
          <a:xfrm>
            <a:off x="3291840" y="1280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782CAC-3AFB-C66F-009B-4C264BEF6D52}"/>
              </a:ext>
            </a:extLst>
          </p:cNvPr>
          <p:cNvSpPr/>
          <p:nvPr/>
        </p:nvSpPr>
        <p:spPr>
          <a:xfrm>
            <a:off x="3337560" y="894665"/>
            <a:ext cx="2377440" cy="235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Logistics &amp; Travel:</a:t>
            </a:r>
            <a:r>
              <a:rPr lang="en-US" sz="1400" dirty="0">
                <a:solidFill>
                  <a:schemeClr val="bg1"/>
                </a:solidFill>
              </a:rPr>
              <a:t> Helps transport or aviation networks map next-day risk windows to optimize routing with incredibly low computational latency.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4F692D-5F8C-02B6-D8C2-72BBE71EB3AA}"/>
              </a:ext>
            </a:extLst>
          </p:cNvPr>
          <p:cNvSpPr/>
          <p:nvPr/>
        </p:nvSpPr>
        <p:spPr>
          <a:xfrm>
            <a:off x="333756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8944B0C-CC15-0DBE-8AD6-8AACB411CEE1}"/>
              </a:ext>
            </a:extLst>
          </p:cNvPr>
          <p:cNvSpPr/>
          <p:nvPr/>
        </p:nvSpPr>
        <p:spPr>
          <a:xfrm>
            <a:off x="6080760" y="1005840"/>
            <a:ext cx="265176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D3098B7-F80F-BB6E-192A-C697F63098E0}"/>
              </a:ext>
            </a:extLst>
          </p:cNvPr>
          <p:cNvSpPr/>
          <p:nvPr/>
        </p:nvSpPr>
        <p:spPr>
          <a:xfrm>
            <a:off x="6172200" y="1143000"/>
            <a:ext cx="2468880" cy="155448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8C162A4-24BD-E56A-BE47-BD8417B23730}"/>
              </a:ext>
            </a:extLst>
          </p:cNvPr>
          <p:cNvSpPr/>
          <p:nvPr/>
        </p:nvSpPr>
        <p:spPr>
          <a:xfrm>
            <a:off x="6172200" y="1280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B8482A-A003-EC0A-5C01-3C55D629AE73}"/>
              </a:ext>
            </a:extLst>
          </p:cNvPr>
          <p:cNvSpPr/>
          <p:nvPr/>
        </p:nvSpPr>
        <p:spPr>
          <a:xfrm>
            <a:off x="6217920" y="894665"/>
            <a:ext cx="2377440" cy="235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Pipeline Automation:</a:t>
            </a:r>
            <a:r>
              <a:rPr lang="en-US" sz="1400" dirty="0">
                <a:solidFill>
                  <a:schemeClr val="bg1"/>
                </a:solidFill>
              </a:rPr>
              <a:t> Proves that an automated big data architecture can feed instant frontend dashboards for immediate user data queries.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F81F77F-8DCE-C61A-E4B1-A692AFAE727D}"/>
              </a:ext>
            </a:extLst>
          </p:cNvPr>
          <p:cNvSpPr/>
          <p:nvPr/>
        </p:nvSpPr>
        <p:spPr>
          <a:xfrm>
            <a:off x="621792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914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3657600" cy="3657600"/>
          </a:xfrm>
          <a:prstGeom prst="ellipse">
            <a:avLst/>
          </a:prstGeom>
          <a:solidFill>
            <a:srgbClr val="003D30">
              <a:alpha val="50000"/>
            </a:srgbClr>
          </a:solidFill>
          <a:ln w="12700">
            <a:solidFill>
              <a:srgbClr val="003D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1463040"/>
            <a:ext cx="128016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repository, code logs, and interactive application screens are live on GitHub.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429000"/>
            <a:ext cx="54864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20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github.com/alexxksh/Big-Data-Weather-Analysis      |      PySpark | Streamlit | Tableau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457</Words>
  <Application>Microsoft Office PowerPoint</Application>
  <PresentationFormat>On-screen Show (16:9)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Weather Analytics Pipeline</dc:title>
  <dc:subject>PptxGenJS Presentation</dc:subject>
  <dc:creator>PptxGenJS</dc:creator>
  <cp:lastModifiedBy>Ywach Oltean</cp:lastModifiedBy>
  <cp:revision>6</cp:revision>
  <dcterms:created xsi:type="dcterms:W3CDTF">2026-06-08T11:37:57Z</dcterms:created>
  <dcterms:modified xsi:type="dcterms:W3CDTF">2026-06-11T06:53:53Z</dcterms:modified>
</cp:coreProperties>
</file>