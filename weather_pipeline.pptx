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4" r:id="rId5"/>
    <p:sldId id="259" r:id="rId6"/>
    <p:sldId id="260" r:id="rId7"/>
    <p:sldId id="261" r:id="rId8"/>
    <p:sldId id="262" r:id="rId9"/>
    <p:sldId id="265" r:id="rId10"/>
    <p:sldId id="263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4" d="100"/>
          <a:sy n="124" d="100"/>
        </p:scale>
        <p:origin x="84" y="8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334D5C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22AF-4F41-8CE5-3658A7EF2271}"/>
              </c:ext>
            </c:extLst>
          </c:dPt>
          <c:dPt>
            <c:idx val="1"/>
            <c:invertIfNegative val="0"/>
            <c:bubble3D val="0"/>
            <c:spPr>
              <a:solidFill>
                <a:srgbClr val="00C8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2AF-4F41-8CE5-3658A7EF2271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Target</c:v>
                </c:pt>
                <c:pt idx="1">
                  <c:v>Achieved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80</c:v>
                </c:pt>
                <c:pt idx="1">
                  <c:v>83.35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2AF-4F41-8CE5-3658A7EF227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49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1262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49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0D1117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Rainfall (mm)</c:v>
                </c:pt>
              </c:strCache>
            </c:strRef>
          </c:tx>
          <c:spPr>
            <a:solidFill>
              <a:srgbClr val="00C89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Cairns (Tropical North)</c:v>
                </c:pt>
                <c:pt idx="1">
                  <c:v>Darwin (Northern Territory)</c:v>
                </c:pt>
                <c:pt idx="2">
                  <c:v>Sydney (East Coast)</c:v>
                </c:pt>
                <c:pt idx="3">
                  <c:v>Alice Springs (Arid Inland)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5.74</c:v>
                </c:pt>
                <c:pt idx="1">
                  <c:v>5.09</c:v>
                </c:pt>
                <c:pt idx="2">
                  <c:v>3.33</c:v>
                </c:pt>
                <c:pt idx="3">
                  <c:v>0.88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0AB-4868-A697-420F0C6D622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49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1262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949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0D1117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310437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D8941-622B-598B-0968-84AB57BCB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DEE03A-BFAB-5490-DBFF-C3F2D258B3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363408-3A77-76AA-4866-5917B4E3C6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F03B11-2A4F-EBD9-A3CB-1D4B6D18C8C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677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51859-E86C-4823-F0DA-47D7ABCA7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89B62C-AD84-76C1-93C2-3028B36536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85139A-01C0-602E-AF1A-034A4316FC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26129F-1575-918A-0A13-CF8FEAFAFE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6509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003D30">
              <a:alpha val="60000"/>
            </a:srgbClr>
          </a:solidFill>
          <a:ln w="12700">
            <a:solidFill>
              <a:srgbClr val="003D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371600" y="1371600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Weather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1371600" y="2148840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Pipeline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371600" y="3200400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end-to-end Big Data machine learning pipeline utilizing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Pandas, PySpark, and Streamlit to model real-world precipitation trends.</a:t>
            </a:r>
            <a:endParaRPr lang="en-US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C0082F-568A-4C45-833F-250C74CC45D1}"/>
              </a:ext>
            </a:extLst>
          </p:cNvPr>
          <p:cNvSpPr txBox="1"/>
          <p:nvPr/>
        </p:nvSpPr>
        <p:spPr>
          <a:xfrm>
            <a:off x="6872393" y="3015734"/>
            <a:ext cx="18144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Oltean Alexandru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" cy="41148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7432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Analytical Objectives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4754880" cy="91440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05840"/>
            <a:ext cx="45720" cy="91440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7899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Accuracy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35331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 a classification model optimized to exceed 80% forecast reliability.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4754880" cy="91440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2103120"/>
            <a:ext cx="45720" cy="91440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17627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Trigger Features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245059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Uncover the primary environmental variables driving rainfall.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200400"/>
            <a:ext cx="4754880" cy="91440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76200" dist="254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3200400"/>
            <a:ext cx="45720" cy="91440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27355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Optimization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354787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 geography-specific climatological variations across territories.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760720" y="914400"/>
            <a:ext cx="2926080" cy="338328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118872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000000"/>
                </a:solidFill>
              </a:rPr>
              <a:t>🌪️</a:t>
            </a:r>
            <a:endParaRPr lang="en-US" sz="6000" dirty="0"/>
          </a:p>
        </p:txBody>
      </p:sp>
      <p:sp>
        <p:nvSpPr>
          <p:cNvPr id="18" name="Text 16"/>
          <p:cNvSpPr/>
          <p:nvPr/>
        </p:nvSpPr>
        <p:spPr>
          <a:xfrm>
            <a:off x="5943600" y="210312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943600" y="30175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• ML • Climate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" cy="41148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Pipeline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2651760" cy="347472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1143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🐍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9202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Data Prep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42316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Ingested weatherAUS.csv. Used Python and Pandas to extract and clean 140,000+ historical climate records.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1005840"/>
            <a:ext cx="2651760" cy="347472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91840" y="1143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⚡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337560" y="19202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PySpark Engine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337560" y="242316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 features, scaled transformations, and trained Logistic Regression models inside a Big Data framework.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80760" y="1005840"/>
            <a:ext cx="2651760" cy="347472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72200" y="1143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🖥️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217920" y="19202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App Deployment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217920" y="242316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a live Streamlit visual interface allowing immediate local data exploration and real-time model runs.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090672" y="2560320"/>
            <a:ext cx="219456" cy="73152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971032" y="2560320"/>
            <a:ext cx="219456" cy="73152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19A88E-D3C2-1EDA-8CF8-967CA45CE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22E5D0F-4509-CBB0-8B52-B49E6910D2AF}"/>
              </a:ext>
            </a:extLst>
          </p:cNvPr>
          <p:cNvSpPr/>
          <p:nvPr/>
        </p:nvSpPr>
        <p:spPr>
          <a:xfrm>
            <a:off x="457200" y="320040"/>
            <a:ext cx="45720" cy="41148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7E4A9D9-E4EF-6FA6-12EA-FAEBB124DA1E}"/>
              </a:ext>
            </a:extLst>
          </p:cNvPr>
          <p:cNvSpPr/>
          <p:nvPr/>
        </p:nvSpPr>
        <p:spPr>
          <a:xfrm>
            <a:off x="59436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dirty="0">
                <a:solidFill>
                  <a:schemeClr val="bg1"/>
                </a:solidFill>
              </a:rPr>
              <a:t>Why We Chose This Dataset &amp; Problem</a:t>
            </a:r>
            <a:endParaRPr lang="en-US" sz="2600" dirty="0">
              <a:solidFill>
                <a:schemeClr val="bg1"/>
              </a:solidFill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9410E6D-193D-71C6-145A-20F9BBFFA1F2}"/>
              </a:ext>
            </a:extLst>
          </p:cNvPr>
          <p:cNvSpPr/>
          <p:nvPr/>
        </p:nvSpPr>
        <p:spPr>
          <a:xfrm>
            <a:off x="320040" y="1005840"/>
            <a:ext cx="2651760" cy="347472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E010792-09C1-95B4-F5F9-794B04275A40}"/>
              </a:ext>
            </a:extLst>
          </p:cNvPr>
          <p:cNvSpPr/>
          <p:nvPr/>
        </p:nvSpPr>
        <p:spPr>
          <a:xfrm>
            <a:off x="411480" y="1143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8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DC3E9A4-D9D1-FFA8-68AD-4624697B3704}"/>
              </a:ext>
            </a:extLst>
          </p:cNvPr>
          <p:cNvSpPr/>
          <p:nvPr/>
        </p:nvSpPr>
        <p:spPr>
          <a:xfrm>
            <a:off x="457200" y="192024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r>
              <a:rPr lang="en-US" sz="1600" dirty="0">
                <a:solidFill>
                  <a:schemeClr val="bg1"/>
                </a:solidFill>
              </a:rPr>
              <a:t>We chose the </a:t>
            </a:r>
            <a:r>
              <a:rPr lang="en-US" dirty="0">
                <a:solidFill>
                  <a:schemeClr val="bg1"/>
                </a:solidFill>
              </a:rPr>
              <a:t>weatherAUS.csv</a:t>
            </a:r>
            <a:r>
              <a:rPr lang="en-US" sz="1600" dirty="0">
                <a:solidFill>
                  <a:schemeClr val="bg1"/>
                </a:solidFill>
              </a:rPr>
              <a:t> dataset because it contains over 140,000 deep daily rows tracking a decade of records.</a:t>
            </a: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67987CB-52F7-9781-C074-F2B9B01B347E}"/>
              </a:ext>
            </a:extLst>
          </p:cNvPr>
          <p:cNvSpPr/>
          <p:nvPr/>
        </p:nvSpPr>
        <p:spPr>
          <a:xfrm>
            <a:off x="457200" y="242316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614F6C3-A00F-7FC9-4079-677205F3DBBC}"/>
              </a:ext>
            </a:extLst>
          </p:cNvPr>
          <p:cNvSpPr/>
          <p:nvPr/>
        </p:nvSpPr>
        <p:spPr>
          <a:xfrm>
            <a:off x="3200400" y="1005840"/>
            <a:ext cx="2651760" cy="347472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412C0438-6FA7-D748-9AAE-F78B3964A70A}"/>
              </a:ext>
            </a:extLst>
          </p:cNvPr>
          <p:cNvSpPr/>
          <p:nvPr/>
        </p:nvSpPr>
        <p:spPr>
          <a:xfrm>
            <a:off x="3291840" y="1143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8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C7B4B46-6B1B-1ED7-5709-1252970108B0}"/>
              </a:ext>
            </a:extLst>
          </p:cNvPr>
          <p:cNvSpPr/>
          <p:nvPr/>
        </p:nvSpPr>
        <p:spPr>
          <a:xfrm>
            <a:off x="3538728" y="1920240"/>
            <a:ext cx="2176272" cy="991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1600" dirty="0">
                <a:solidFill>
                  <a:schemeClr val="bg1"/>
                </a:solidFill>
              </a:rPr>
              <a:t>It monitors dual-time parameters (9 AM vs. 3 PM shifts) across 24 variables</a:t>
            </a: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10D884AF-6CC8-D4B2-9B8D-9262280D7D53}"/>
              </a:ext>
            </a:extLst>
          </p:cNvPr>
          <p:cNvSpPr/>
          <p:nvPr/>
        </p:nvSpPr>
        <p:spPr>
          <a:xfrm>
            <a:off x="3337560" y="242316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5690F369-4CCB-553F-6BE8-4B27CE6CBCA6}"/>
              </a:ext>
            </a:extLst>
          </p:cNvPr>
          <p:cNvSpPr/>
          <p:nvPr/>
        </p:nvSpPr>
        <p:spPr>
          <a:xfrm>
            <a:off x="6080760" y="1005840"/>
            <a:ext cx="2651760" cy="347472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DC88B2FC-EE11-F8B0-58F8-76D9711B2ABA}"/>
              </a:ext>
            </a:extLst>
          </p:cNvPr>
          <p:cNvSpPr/>
          <p:nvPr/>
        </p:nvSpPr>
        <p:spPr>
          <a:xfrm>
            <a:off x="6172200" y="1143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8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4ADCDDE9-0098-69D6-0485-D6C1C0B0C537}"/>
              </a:ext>
            </a:extLst>
          </p:cNvPr>
          <p:cNvSpPr/>
          <p:nvPr/>
        </p:nvSpPr>
        <p:spPr>
          <a:xfrm>
            <a:off x="6327648" y="1783080"/>
            <a:ext cx="2267712" cy="2354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chemeClr val="bg1"/>
                </a:solidFill>
              </a:rPr>
              <a:t>3.Processing a massive volume of multi-temporal thermodynamic data provides the perfect stress test to prove </a:t>
            </a:r>
            <a:r>
              <a:rPr lang="en-US" sz="1600" dirty="0" err="1">
                <a:solidFill>
                  <a:schemeClr val="bg1"/>
                </a:solidFill>
              </a:rPr>
              <a:t>PySpark’s</a:t>
            </a:r>
            <a:r>
              <a:rPr lang="en-US" sz="1600" dirty="0">
                <a:solidFill>
                  <a:schemeClr val="bg1"/>
                </a:solidFill>
              </a:rPr>
              <a:t> parallel processing efficiency over standard local machines. </a:t>
            </a: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F96D9923-F13A-92A8-77DE-72D684E604D3}"/>
              </a:ext>
            </a:extLst>
          </p:cNvPr>
          <p:cNvSpPr/>
          <p:nvPr/>
        </p:nvSpPr>
        <p:spPr>
          <a:xfrm>
            <a:off x="6217920" y="242316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0F535944-E9AA-211F-61AA-518921F862F8}"/>
              </a:ext>
            </a:extLst>
          </p:cNvPr>
          <p:cNvSpPr/>
          <p:nvPr/>
        </p:nvSpPr>
        <p:spPr>
          <a:xfrm>
            <a:off x="3090672" y="2560320"/>
            <a:ext cx="219456" cy="73152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8676D91E-A697-AFE0-EFA6-AAA37324C5D0}"/>
              </a:ext>
            </a:extLst>
          </p:cNvPr>
          <p:cNvSpPr/>
          <p:nvPr/>
        </p:nvSpPr>
        <p:spPr>
          <a:xfrm>
            <a:off x="5971032" y="2560320"/>
            <a:ext cx="219456" cy="73152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41275761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" cy="41148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dirty="0">
                <a:solidFill>
                  <a:schemeClr val="bg1"/>
                </a:solidFill>
              </a:rPr>
              <a:t>What We Achieved: High-Scale Analytics</a:t>
            </a:r>
            <a:endParaRPr lang="en-US" sz="2600" dirty="0">
              <a:solidFill>
                <a:schemeClr val="bg1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4572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83.35%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457200" y="2743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Accuracy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303520" y="914400"/>
            <a:ext cx="3383280" cy="320040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0" y="1097280"/>
            <a:ext cx="3017520" cy="2385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chemeClr val="bg1"/>
                </a:solidFill>
              </a:rPr>
              <a:t>Target Exceeded:</a:t>
            </a:r>
            <a:r>
              <a:rPr lang="en-US" sz="1400" dirty="0">
                <a:solidFill>
                  <a:schemeClr val="bg1"/>
                </a:solidFill>
              </a:rPr>
              <a:t> Successfully built a highly stable Logistic Regression model yielding </a:t>
            </a:r>
            <a:r>
              <a:rPr lang="en-US" sz="1400" b="1" dirty="0">
                <a:solidFill>
                  <a:schemeClr val="bg1"/>
                </a:solidFill>
              </a:rPr>
              <a:t>83.35% classification accuracy</a:t>
            </a:r>
            <a:r>
              <a:rPr lang="en-US" sz="1400" dirty="0">
                <a:solidFill>
                  <a:schemeClr val="bg1"/>
                </a:solidFill>
              </a:rPr>
              <a:t>, exceeding our 80% target reliability benchmark. </a:t>
            </a:r>
          </a:p>
        </p:txBody>
      </p:sp>
      <p:sp>
        <p:nvSpPr>
          <p:cNvPr id="8" name="Text 6"/>
          <p:cNvSpPr/>
          <p:nvPr/>
        </p:nvSpPr>
        <p:spPr>
          <a:xfrm>
            <a:off x="5486400" y="16002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0" y="26974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graphicFrame>
        <p:nvGraphicFramePr>
          <p:cNvPr id="10" name="Chart 0"/>
          <p:cNvGraphicFramePr/>
          <p:nvPr/>
        </p:nvGraphicFramePr>
        <p:xfrm>
          <a:off x="457200" y="3291840"/>
          <a:ext cx="4572000" cy="1554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" cy="41148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743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Volatility Trigger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PM Humidity Correlation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study tracked multiple climate parameters (winds, temperature ranges, atmospheric air pressures).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confirmed that 3 PM Humidity acts as the core thermodynamic trigger. Late afternoon moisture build-up directly creates atmospheric pressure drops, forcing rain predictions.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4023360"/>
            <a:ext cx="5029200" cy="73152"/>
          </a:xfrm>
          <a:prstGeom prst="rect">
            <a:avLst/>
          </a:prstGeom>
          <a:solidFill>
            <a:srgbClr val="21262D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4023360"/>
            <a:ext cx="3749040" cy="73152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1605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3PM Humidity: 74% — Primary Rainfall Predictor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760720" y="274320"/>
            <a:ext cx="2926080" cy="457200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0" y="64008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400" dirty="0">
                <a:solidFill>
                  <a:srgbClr val="000000"/>
                </a:solidFill>
              </a:rPr>
              <a:t>⛈️</a:t>
            </a:r>
            <a:endParaRPr lang="en-US" sz="6400" dirty="0"/>
          </a:p>
        </p:txBody>
      </p:sp>
      <p:sp>
        <p:nvSpPr>
          <p:cNvPr id="11" name="Shape 9"/>
          <p:cNvSpPr/>
          <p:nvPr/>
        </p:nvSpPr>
        <p:spPr>
          <a:xfrm>
            <a:off x="5943600" y="1920240"/>
            <a:ext cx="2560320" cy="457200"/>
          </a:xfrm>
          <a:prstGeom prst="rect">
            <a:avLst/>
          </a:prstGeom>
          <a:solidFill>
            <a:srgbClr val="1C2128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0" y="1965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Speed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43600" y="2514600"/>
            <a:ext cx="2560320" cy="457200"/>
          </a:xfrm>
          <a:prstGeom prst="rect">
            <a:avLst/>
          </a:prstGeom>
          <a:solidFill>
            <a:srgbClr val="1C2128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0" y="2560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0" y="3108960"/>
            <a:ext cx="2560320" cy="457200"/>
          </a:xfrm>
          <a:prstGeom prst="rect">
            <a:avLst/>
          </a:prstGeom>
          <a:solidFill>
            <a:srgbClr val="1C2128"/>
          </a:solidFill>
          <a:ln w="6350">
            <a:solidFill>
              <a:srgbClr val="21262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0" y="31546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Pressure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43600" y="3703320"/>
            <a:ext cx="2560320" cy="457200"/>
          </a:xfrm>
          <a:prstGeom prst="rect">
            <a:avLst/>
          </a:prstGeom>
          <a:solidFill>
            <a:srgbClr val="003D30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35040" y="3749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3PM Humidity ★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" cy="41148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Geographical Rainfall Disparity</a:t>
            </a:r>
            <a:endParaRPr lang="en-US" sz="26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914400"/>
          <a:ext cx="822960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Findings: True rainfall patterns are heavily geographical. High-volume coastal zones contrast dry, low-precipitation desert zones.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5720" cy="41148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Pipeline Deliverables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2651760" cy="384048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005840"/>
            <a:ext cx="2651760" cy="73152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143000"/>
            <a:ext cx="2468880" cy="1554480"/>
          </a:xfrm>
          <a:prstGeom prst="rect">
            <a:avLst/>
          </a:prstGeom>
          <a:solidFill>
            <a:srgbClr val="1C2128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28016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000000"/>
                </a:solidFill>
              </a:rPr>
              <a:t>💻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457200" y="28346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1-2: EDA &amp; ETL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2918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Cleaned structured code files documenting model pre-processing steps.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0" y="1005840"/>
            <a:ext cx="2651760" cy="384048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1005840"/>
            <a:ext cx="2651760" cy="73152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91840" y="1143000"/>
            <a:ext cx="2468880" cy="1554480"/>
          </a:xfrm>
          <a:prstGeom prst="rect">
            <a:avLst/>
          </a:prstGeom>
          <a:solidFill>
            <a:srgbClr val="1C2128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91840" y="128016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000000"/>
                </a:solidFill>
              </a:rPr>
              <a:t>🤖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3337560" y="28346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PySpark Model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337560" y="32918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machine learning model targeting thermodynamic patterns.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80760" y="1005840"/>
            <a:ext cx="2651760" cy="384048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101600" dist="254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80760" y="1005840"/>
            <a:ext cx="2651760" cy="73152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72200" y="1143000"/>
            <a:ext cx="2468880" cy="1554480"/>
          </a:xfrm>
          <a:prstGeom prst="rect">
            <a:avLst/>
          </a:prstGeom>
          <a:solidFill>
            <a:srgbClr val="1C2128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72200" y="128016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000000"/>
                </a:solidFill>
              </a:rPr>
              <a:t>📊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6217920" y="28346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4: Streamlit UI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17920" y="32918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frontend dashboard for immediate user-driven data queries.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D84EB7-C7EB-C8C2-D681-5A52031A3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E33AA3A-820D-D675-E685-4CAD25304E0E}"/>
              </a:ext>
            </a:extLst>
          </p:cNvPr>
          <p:cNvSpPr/>
          <p:nvPr/>
        </p:nvSpPr>
        <p:spPr>
          <a:xfrm>
            <a:off x="457200" y="320040"/>
            <a:ext cx="45720" cy="411480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7B7DEBA-3451-FA3D-4DF5-F2C0946DCA0D}"/>
              </a:ext>
            </a:extLst>
          </p:cNvPr>
          <p:cNvSpPr/>
          <p:nvPr/>
        </p:nvSpPr>
        <p:spPr>
          <a:xfrm>
            <a:off x="59436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dirty="0">
                <a:solidFill>
                  <a:schemeClr val="bg1"/>
                </a:solidFill>
              </a:rPr>
              <a:t>Real-World Utility: How This Helps Us Daily</a:t>
            </a:r>
            <a:endParaRPr lang="en-US" sz="2600" dirty="0">
              <a:solidFill>
                <a:schemeClr val="bg1"/>
              </a:solidFill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30297E5-41EF-9FC6-0E68-7387C078EE1C}"/>
              </a:ext>
            </a:extLst>
          </p:cNvPr>
          <p:cNvSpPr/>
          <p:nvPr/>
        </p:nvSpPr>
        <p:spPr>
          <a:xfrm>
            <a:off x="320040" y="1005840"/>
            <a:ext cx="2651760" cy="73152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A9996C90-2E1E-53B7-90B6-F27D8FB720B4}"/>
              </a:ext>
            </a:extLst>
          </p:cNvPr>
          <p:cNvSpPr/>
          <p:nvPr/>
        </p:nvSpPr>
        <p:spPr>
          <a:xfrm>
            <a:off x="411480" y="1143000"/>
            <a:ext cx="2468880" cy="1554480"/>
          </a:xfrm>
          <a:prstGeom prst="rect">
            <a:avLst/>
          </a:prstGeom>
          <a:solidFill>
            <a:srgbClr val="1C2128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A6E27FE-54A4-C521-4EFE-E07DF14453AE}"/>
              </a:ext>
            </a:extLst>
          </p:cNvPr>
          <p:cNvSpPr/>
          <p:nvPr/>
        </p:nvSpPr>
        <p:spPr>
          <a:xfrm>
            <a:off x="411480" y="128016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4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1452145-E585-5389-DF26-E08D146505A9}"/>
              </a:ext>
            </a:extLst>
          </p:cNvPr>
          <p:cNvSpPr/>
          <p:nvPr/>
        </p:nvSpPr>
        <p:spPr>
          <a:xfrm>
            <a:off x="457200" y="894665"/>
            <a:ext cx="2377440" cy="2351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Smart Agriculture:</a:t>
            </a:r>
            <a:r>
              <a:rPr lang="en-US" sz="1400" dirty="0">
                <a:solidFill>
                  <a:schemeClr val="bg1"/>
                </a:solidFill>
              </a:rPr>
              <a:t> Replaces slow, manual log reviews with instant tracking, allowing agricultural planners to hedge crop vulnerabilities dynamically.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32D0AD2-0189-20A9-FDE9-BA383BBC75A8}"/>
              </a:ext>
            </a:extLst>
          </p:cNvPr>
          <p:cNvSpPr/>
          <p:nvPr/>
        </p:nvSpPr>
        <p:spPr>
          <a:xfrm>
            <a:off x="457200" y="32918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789A653E-BD3B-4704-BA7D-9D50B6C11719}"/>
              </a:ext>
            </a:extLst>
          </p:cNvPr>
          <p:cNvSpPr/>
          <p:nvPr/>
        </p:nvSpPr>
        <p:spPr>
          <a:xfrm>
            <a:off x="3200400" y="1005840"/>
            <a:ext cx="2651760" cy="73152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B82A6D91-90E2-809C-A004-42D3B8C31143}"/>
              </a:ext>
            </a:extLst>
          </p:cNvPr>
          <p:cNvSpPr/>
          <p:nvPr/>
        </p:nvSpPr>
        <p:spPr>
          <a:xfrm>
            <a:off x="3291840" y="1143000"/>
            <a:ext cx="2468880" cy="1554480"/>
          </a:xfrm>
          <a:prstGeom prst="rect">
            <a:avLst/>
          </a:prstGeom>
          <a:solidFill>
            <a:srgbClr val="1C2128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05CE78D4-FDB6-C424-B627-BA2BB2B0AF52}"/>
              </a:ext>
            </a:extLst>
          </p:cNvPr>
          <p:cNvSpPr/>
          <p:nvPr/>
        </p:nvSpPr>
        <p:spPr>
          <a:xfrm>
            <a:off x="3291840" y="128016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48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F6782CAC-3AFB-C66F-009B-4C264BEF6D52}"/>
              </a:ext>
            </a:extLst>
          </p:cNvPr>
          <p:cNvSpPr/>
          <p:nvPr/>
        </p:nvSpPr>
        <p:spPr>
          <a:xfrm>
            <a:off x="3337560" y="894665"/>
            <a:ext cx="2377440" cy="2351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Logistics &amp; Travel:</a:t>
            </a:r>
            <a:r>
              <a:rPr lang="en-US" sz="1400" dirty="0">
                <a:solidFill>
                  <a:schemeClr val="bg1"/>
                </a:solidFill>
              </a:rPr>
              <a:t> Helps transport or aviation networks map next-day risk windows to optimize routing with incredibly low computational latency.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294F692D-5F8C-02B6-D8C2-72BBE71EB3AA}"/>
              </a:ext>
            </a:extLst>
          </p:cNvPr>
          <p:cNvSpPr/>
          <p:nvPr/>
        </p:nvSpPr>
        <p:spPr>
          <a:xfrm>
            <a:off x="3337560" y="32918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C8944B0C-CC15-0DBE-8AD6-8AACB411CEE1}"/>
              </a:ext>
            </a:extLst>
          </p:cNvPr>
          <p:cNvSpPr/>
          <p:nvPr/>
        </p:nvSpPr>
        <p:spPr>
          <a:xfrm>
            <a:off x="6080760" y="1005840"/>
            <a:ext cx="2651760" cy="73152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BD3098B7-F80F-BB6E-192A-C697F63098E0}"/>
              </a:ext>
            </a:extLst>
          </p:cNvPr>
          <p:cNvSpPr/>
          <p:nvPr/>
        </p:nvSpPr>
        <p:spPr>
          <a:xfrm>
            <a:off x="6172200" y="1143000"/>
            <a:ext cx="2468880" cy="1554480"/>
          </a:xfrm>
          <a:prstGeom prst="rect">
            <a:avLst/>
          </a:prstGeom>
          <a:solidFill>
            <a:srgbClr val="1C2128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A8C162A4-24BD-E56A-BE47-BD8417B23730}"/>
              </a:ext>
            </a:extLst>
          </p:cNvPr>
          <p:cNvSpPr/>
          <p:nvPr/>
        </p:nvSpPr>
        <p:spPr>
          <a:xfrm>
            <a:off x="6172200" y="128016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48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5DB8482A-A003-EC0A-5C01-3C55D629AE73}"/>
              </a:ext>
            </a:extLst>
          </p:cNvPr>
          <p:cNvSpPr/>
          <p:nvPr/>
        </p:nvSpPr>
        <p:spPr>
          <a:xfrm>
            <a:off x="6217920" y="894665"/>
            <a:ext cx="2377440" cy="2351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Pipeline Automation:</a:t>
            </a:r>
            <a:r>
              <a:rPr lang="en-US" sz="1400" dirty="0">
                <a:solidFill>
                  <a:schemeClr val="bg1"/>
                </a:solidFill>
              </a:rPr>
              <a:t> Proves that an automated big data architecture can feed instant frontend dashboards for immediate user data queries.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3F81F77F-8DCE-C61A-E4B1-A692AFAE727D}"/>
              </a:ext>
            </a:extLst>
          </p:cNvPr>
          <p:cNvSpPr/>
          <p:nvPr/>
        </p:nvSpPr>
        <p:spPr>
          <a:xfrm>
            <a:off x="6217920" y="329184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3891446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0" y="-1371600"/>
            <a:ext cx="3657600" cy="3657600"/>
          </a:xfrm>
          <a:prstGeom prst="ellipse">
            <a:avLst/>
          </a:prstGeom>
          <a:solidFill>
            <a:srgbClr val="003D30">
              <a:alpha val="50000"/>
            </a:srgbClr>
          </a:solidFill>
          <a:ln w="12700">
            <a:solidFill>
              <a:srgbClr val="003D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931920" y="1463040"/>
            <a:ext cx="1280160" cy="54864"/>
          </a:xfrm>
          <a:prstGeom prst="rect">
            <a:avLst/>
          </a:prstGeom>
          <a:solidFill>
            <a:srgbClr val="00C896"/>
          </a:solidFill>
          <a:ln w="12700">
            <a:solidFill>
              <a:srgbClr val="00C89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69164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Answers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1371600" y="265176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complete project repository, code logs, and interactive application screens are live on GitHub.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828800" y="3429000"/>
            <a:ext cx="5486400" cy="64008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920240" y="35204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🐙  github.com/alexxksh/Big-Data-Weather-Analysis      |      PySpark | Streamlit | Tableau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507</Words>
  <Application>Microsoft Office PowerPoint</Application>
  <PresentationFormat>On-screen Show (16:9)</PresentationFormat>
  <Paragraphs>74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Predictive Weather Analytics Pipeline</dc:title>
  <dc:subject>PptxGenJS Presentation</dc:subject>
  <dc:creator>PptxGenJS</dc:creator>
  <cp:lastModifiedBy>Ywach Oltean</cp:lastModifiedBy>
  <cp:revision>3</cp:revision>
  <dcterms:created xsi:type="dcterms:W3CDTF">2026-06-08T11:37:57Z</dcterms:created>
  <dcterms:modified xsi:type="dcterms:W3CDTF">2026-06-08T20:10:42Z</dcterms:modified>
</cp:coreProperties>
</file>